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2"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D8B07-03EF-70FA-5E05-AF70688D4DE8}" name="Stephanie Rodgers" initials="SR" userId="db26bc80bab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3647"/>
    <a:srgbClr val="002060"/>
    <a:srgbClr val="03B1F0"/>
    <a:srgbClr val="CD1575"/>
    <a:srgbClr val="808080"/>
    <a:srgbClr val="303F52"/>
    <a:srgbClr val="3B731F"/>
    <a:srgbClr val="A6A6A6"/>
    <a:srgbClr val="E6E6E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52" autoAdjust="0"/>
    <p:restoredTop sz="95291" autoAdjust="0"/>
  </p:normalViewPr>
  <p:slideViewPr>
    <p:cSldViewPr snapToGrid="0">
      <p:cViewPr varScale="1">
        <p:scale>
          <a:sx n="127" d="100"/>
          <a:sy n="127" d="100"/>
        </p:scale>
        <p:origin x="1544" y="184"/>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1/12/23</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6" name="Slide Number Placeholder 22"/>
          <p:cNvSpPr>
            <a:spLocks noGrp="1"/>
          </p:cNvSpPr>
          <p:nvPr>
            <p:ph type="sldNum" sz="quarter" idx="4"/>
          </p:nvPr>
        </p:nvSpPr>
        <p:spPr>
          <a:xfrm>
            <a:off x="4036219"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911352"/>
            <a:ext cx="8531352" cy="5337048"/>
          </a:xfrm>
          <a:prstGeom prst="rect">
            <a:avLst/>
          </a:prstGeom>
        </p:spPr>
        <p:txBody>
          <a:bodyPr/>
          <a:lstStyle>
            <a:lvl1pPr algn="just">
              <a:buClrTx/>
              <a:defRPr lang="en-US" sz="1050" kern="1200" dirty="0" smtClean="0">
                <a:solidFill>
                  <a:schemeClr val="tx1"/>
                </a:solidFill>
                <a:latin typeface="+mn-lt"/>
                <a:ea typeface="+mn-ea"/>
                <a:cs typeface="+mn-cs"/>
              </a:defRPr>
            </a:lvl1pPr>
            <a:lvl2pPr algn="just">
              <a:buClrTx/>
              <a:buFont typeface="Wingdings" pitchFamily="2" charset="2"/>
              <a:buChar char="q"/>
              <a:defRPr lang="en-US" sz="950" kern="1200" dirty="0" smtClean="0">
                <a:solidFill>
                  <a:schemeClr val="tx1"/>
                </a:solidFill>
                <a:latin typeface="+mn-lt"/>
                <a:ea typeface="+mn-ea"/>
                <a:cs typeface="+mn-cs"/>
              </a:defRPr>
            </a:lvl2pPr>
            <a:lvl3pPr algn="just">
              <a:buClrTx/>
              <a:buFont typeface="Wingdings" pitchFamily="2" charset="2"/>
              <a:buChar char="q"/>
              <a:defRPr lang="en-US" sz="95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just" rtl="0" eaLnBrk="1" fontAlgn="base" hangingPunct="1">
              <a:lnSpc>
                <a:spcPct val="114000"/>
              </a:lnSpc>
              <a:spcBef>
                <a:spcPts val="300"/>
              </a:spcBef>
              <a:spcAft>
                <a:spcPts val="300"/>
              </a:spcAft>
              <a:buClrTx/>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
        <p:nvSpPr>
          <p:cNvPr id="7" name="TextBox 6"/>
          <p:cNvSpPr txBox="1"/>
          <p:nvPr userDrawn="1"/>
        </p:nvSpPr>
        <p:spPr>
          <a:xfrm>
            <a:off x="-1066800" y="304800"/>
            <a:ext cx="9144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65302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 id="2147484332" r:id="rId3"/>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4" name="TextBox 3">
            <a:extLst>
              <a:ext uri="{FF2B5EF4-FFF2-40B4-BE49-F238E27FC236}">
                <a16:creationId xmlns:a16="http://schemas.microsoft.com/office/drawing/2014/main" id="{0AAE8A2C-7C01-0299-C59D-F0B18C1A880F}"/>
              </a:ext>
            </a:extLst>
          </p:cNvPr>
          <p:cNvSpPr txBox="1"/>
          <p:nvPr/>
        </p:nvSpPr>
        <p:spPr>
          <a:xfrm>
            <a:off x="4613910" y="925832"/>
            <a:ext cx="2446020" cy="307777"/>
          </a:xfrm>
          <a:prstGeom prst="rect">
            <a:avLst/>
          </a:prstGeom>
          <a:noFill/>
        </p:spPr>
        <p:txBody>
          <a:bodyPr wrap="square" rtlCol="0">
            <a:spAutoFit/>
          </a:bodyPr>
          <a:lstStyle/>
          <a:p>
            <a:r>
              <a:rPr lang="en-US" sz="1400" b="1" dirty="0"/>
              <a:t>Overview</a:t>
            </a:r>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3028335"/>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306049"/>
            <a:ext cx="4267199" cy="1169551"/>
          </a:xfrm>
          <a:prstGeom prst="rect">
            <a:avLst/>
          </a:prstGeom>
          <a:noFill/>
        </p:spPr>
        <p:txBody>
          <a:bodyPr wrap="square">
            <a:spAutoFit/>
          </a:bodyPr>
          <a:lstStyle/>
          <a:p>
            <a:pPr marL="285750" indent="-285750">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for which it generated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4801" y="78158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156980632"/>
              </p:ext>
            </p:extLst>
          </p:nvPr>
        </p:nvGraphicFramePr>
        <p:xfrm>
          <a:off x="304801" y="1303656"/>
          <a:ext cx="1946910" cy="1112520"/>
        </p:xfrm>
        <a:graphic>
          <a:graphicData uri="http://schemas.openxmlformats.org/drawingml/2006/table">
            <a:tbl>
              <a:tblPr firstRow="1" bandRow="1">
                <a:tableStyleId>{073A0DAA-6AF3-43AB-8588-CEC1D06C72B9}</a:tableStyleId>
              </a:tblPr>
              <a:tblGrid>
                <a:gridCol w="973455">
                  <a:extLst>
                    <a:ext uri="{9D8B030D-6E8A-4147-A177-3AD203B41FA5}">
                      <a16:colId xmlns:a16="http://schemas.microsoft.com/office/drawing/2014/main" val="4126971592"/>
                    </a:ext>
                  </a:extLst>
                </a:gridCol>
                <a:gridCol w="973455">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Revenue</a:t>
                      </a:r>
                    </a:p>
                  </a:txBody>
                  <a:tcPr>
                    <a:noFill/>
                  </a:tcPr>
                </a:tc>
                <a:tc>
                  <a:txBody>
                    <a:bodyPr/>
                    <a:lstStyle/>
                    <a:p>
                      <a:pPr algn="r"/>
                      <a:r>
                        <a:rPr lang="en-US" sz="1200" dirty="0">
                          <a:solidFill>
                            <a:schemeClr val="tx1"/>
                          </a:solidFill>
                        </a:rPr>
                        <a:t>$</a:t>
                      </a: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EBITDA</a:t>
                      </a:r>
                    </a:p>
                  </a:txBody>
                  <a:tcPr>
                    <a:noFill/>
                  </a:tcPr>
                </a:tc>
                <a:tc>
                  <a:txBody>
                    <a:bodyPr/>
                    <a:lstStyle/>
                    <a:p>
                      <a:endParaRPr lang="en-US" sz="120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Equity Value</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1384754662"/>
              </p:ext>
            </p:extLst>
          </p:nvPr>
        </p:nvGraphicFramePr>
        <p:xfrm>
          <a:off x="2438400" y="932816"/>
          <a:ext cx="2175510" cy="1483360"/>
        </p:xfrm>
        <a:graphic>
          <a:graphicData uri="http://schemas.openxmlformats.org/drawingml/2006/table">
            <a:tbl>
              <a:tblPr firstRow="1" bandRow="1">
                <a:tableStyleId>{073A0DAA-6AF3-43AB-8588-CEC1D06C72B9}</a:tableStyleId>
              </a:tblPr>
              <a:tblGrid>
                <a:gridCol w="1087755">
                  <a:extLst>
                    <a:ext uri="{9D8B030D-6E8A-4147-A177-3AD203B41FA5}">
                      <a16:colId xmlns:a16="http://schemas.microsoft.com/office/drawing/2014/main" val="4126971592"/>
                    </a:ext>
                  </a:extLst>
                </a:gridCol>
                <a:gridCol w="1087755">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Headquarters</a:t>
                      </a: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4202442930"/>
                  </a:ext>
                </a:extLst>
              </a:tr>
              <a:tr h="370840">
                <a:tc>
                  <a:txBody>
                    <a:bodyPr/>
                    <a:lstStyle/>
                    <a:p>
                      <a:r>
                        <a:rPr lang="en-US" sz="1200" b="1" dirty="0">
                          <a:solidFill>
                            <a:schemeClr val="tx1"/>
                          </a:solidFill>
                        </a:rPr>
                        <a:t>Founded</a:t>
                      </a: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 Employees</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President</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17" name="Rectangle 16">
            <a:extLst>
              <a:ext uri="{FF2B5EF4-FFF2-40B4-BE49-F238E27FC236}">
                <a16:creationId xmlns:a16="http://schemas.microsoft.com/office/drawing/2014/main" id="{4870C368-27B3-571F-CD95-675EDA3E14F0}"/>
              </a:ext>
            </a:extLst>
          </p:cNvPr>
          <p:cNvSpPr/>
          <p:nvPr/>
        </p:nvSpPr>
        <p:spPr bwMode="auto">
          <a:xfrm>
            <a:off x="203200" y="3012219"/>
            <a:ext cx="4175759" cy="1549146"/>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Create a chart showing Revenue and EBITDA from 2017-2021</a:t>
            </a:r>
          </a:p>
        </p:txBody>
      </p:sp>
      <p:sp>
        <p:nvSpPr>
          <p:cNvPr id="18" name="Rectangle 17">
            <a:extLst>
              <a:ext uri="{FF2B5EF4-FFF2-40B4-BE49-F238E27FC236}">
                <a16:creationId xmlns:a16="http://schemas.microsoft.com/office/drawing/2014/main" id="{6DB68349-0691-0149-B98F-1621F83C9A6D}"/>
              </a:ext>
            </a:extLst>
          </p:cNvPr>
          <p:cNvSpPr/>
          <p:nvPr/>
        </p:nvSpPr>
        <p:spPr bwMode="auto">
          <a:xfrm>
            <a:off x="262891" y="5436526"/>
            <a:ext cx="4175759" cy="1116706"/>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Pie chart showing Revenue by Geography</a:t>
            </a:r>
          </a:p>
        </p:txBody>
      </p:sp>
      <p:sp>
        <p:nvSpPr>
          <p:cNvPr id="20" name="Rectangle 19">
            <a:extLst>
              <a:ext uri="{FF2B5EF4-FFF2-40B4-BE49-F238E27FC236}">
                <a16:creationId xmlns:a16="http://schemas.microsoft.com/office/drawing/2014/main" id="{82DEE157-CC37-EE6B-FA58-D6DF06E2D469}"/>
              </a:ext>
            </a:extLst>
          </p:cNvPr>
          <p:cNvSpPr/>
          <p:nvPr/>
        </p:nvSpPr>
        <p:spPr bwMode="auto">
          <a:xfrm>
            <a:off x="4663440" y="1245980"/>
            <a:ext cx="4175759" cy="1761796"/>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Write 3-5 bullets explaining the following:</a:t>
            </a:r>
          </a:p>
          <a:p>
            <a:pPr algn="ctr"/>
            <a:r>
              <a:rPr lang="en-US" dirty="0"/>
              <a:t>- What the company does</a:t>
            </a:r>
          </a:p>
          <a:p>
            <a:pPr marL="285750" indent="-285750" algn="ctr">
              <a:buFontTx/>
              <a:buChar char="-"/>
            </a:pPr>
            <a:r>
              <a:rPr lang="en-US" dirty="0"/>
              <a:t>Its position within the industry</a:t>
            </a:r>
          </a:p>
          <a:p>
            <a:pPr marL="285750" indent="-285750" algn="ctr">
              <a:buFontTx/>
              <a:buChar char="-"/>
            </a:pPr>
            <a:r>
              <a:rPr lang="en-US" dirty="0"/>
              <a:t>What products it sells</a:t>
            </a:r>
          </a:p>
          <a:p>
            <a:pPr marL="285750" indent="-285750" algn="ctr">
              <a:buFontTx/>
              <a:buChar char="-"/>
            </a:pPr>
            <a:r>
              <a:rPr lang="en-US" dirty="0"/>
              <a:t>Company history and reputation</a:t>
            </a:r>
          </a:p>
          <a:p>
            <a:pPr marL="285750" indent="-285750" algn="ctr">
              <a:buFontTx/>
              <a:buChar char="-"/>
            </a:pPr>
            <a:endParaRPr lang="en-US" dirty="0"/>
          </a:p>
        </p:txBody>
      </p:sp>
      <p:sp>
        <p:nvSpPr>
          <p:cNvPr id="21" name="Rectangle 20">
            <a:extLst>
              <a:ext uri="{FF2B5EF4-FFF2-40B4-BE49-F238E27FC236}">
                <a16:creationId xmlns:a16="http://schemas.microsoft.com/office/drawing/2014/main" id="{E7B000FE-CA2C-CE5B-8A60-4616FBAEE82C}"/>
              </a:ext>
            </a:extLst>
          </p:cNvPr>
          <p:cNvSpPr/>
          <p:nvPr/>
        </p:nvSpPr>
        <p:spPr bwMode="auto">
          <a:xfrm>
            <a:off x="203201" y="982091"/>
            <a:ext cx="4175759" cy="452680"/>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Please fill in key information from the 10-K </a:t>
            </a:r>
          </a:p>
        </p:txBody>
      </p:sp>
      <p:sp>
        <p:nvSpPr>
          <p:cNvPr id="2" name="TextBox 1">
            <a:extLst>
              <a:ext uri="{FF2B5EF4-FFF2-40B4-BE49-F238E27FC236}">
                <a16:creationId xmlns:a16="http://schemas.microsoft.com/office/drawing/2014/main" id="{77E3F1CC-0056-98CD-E499-B312278C13E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sp>
        <p:nvSpPr>
          <p:cNvPr id="3" name="TextBox 2">
            <a:extLst>
              <a:ext uri="{FF2B5EF4-FFF2-40B4-BE49-F238E27FC236}">
                <a16:creationId xmlns:a16="http://schemas.microsoft.com/office/drawing/2014/main" id="{D2D9565D-A196-B418-73D6-80CE21F3A654}"/>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sp>
        <p:nvSpPr>
          <p:cNvPr id="6" name="TextBox 5">
            <a:extLst>
              <a:ext uri="{FF2B5EF4-FFF2-40B4-BE49-F238E27FC236}">
                <a16:creationId xmlns:a16="http://schemas.microsoft.com/office/drawing/2014/main" id="{60CF8688-1049-0EF2-07AE-4315515BFCB8}"/>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533400"/>
          </a:xfrm>
        </p:spPr>
        <p:txBody>
          <a:bodyPr/>
          <a:lstStyle/>
          <a:p>
            <a:r>
              <a:rPr lang="en-US" sz="1800" b="1" dirty="0">
                <a:latin typeface="Arial" panose="020B0604020202020204" pitchFamily="34" charset="0"/>
                <a:cs typeface="Arial" panose="020B0604020202020204" pitchFamily="34" charset="0"/>
              </a:rPr>
              <a:t>Nintendo</a:t>
            </a:r>
            <a:r>
              <a:rPr lang="en-US" sz="1800" dirty="0">
                <a:latin typeface="Arial" panose="020B0604020202020204" pitchFamily="34" charset="0"/>
                <a:cs typeface="Arial" panose="020B0604020202020204" pitchFamily="34" charset="0"/>
              </a:rPr>
              <a:t> | </a:t>
            </a:r>
            <a:r>
              <a:rPr lang="en-US" sz="1800" b="0" dirty="0">
                <a:latin typeface="Arial" panose="020B0604020202020204" pitchFamily="34" charset="0"/>
                <a:cs typeface="Arial" panose="020B0604020202020204" pitchFamily="34" charset="0"/>
              </a:rPr>
              <a:t>Discounted Cash Flow Analysis</a:t>
            </a:r>
          </a:p>
        </p:txBody>
      </p:sp>
      <p:sp>
        <p:nvSpPr>
          <p:cNvPr id="3" name="Slide Number Placeholder 2"/>
          <p:cNvSpPr>
            <a:spLocks noGrp="1"/>
          </p:cNvSpPr>
          <p:nvPr>
            <p:ph type="sldNum" sz="quarter" idx="4"/>
          </p:nvPr>
        </p:nvSpPr>
        <p:spPr/>
        <p:txBody>
          <a:bodyPr/>
          <a:lstStyle/>
          <a:p>
            <a:fld id="{0E597324-71BB-4312-8794-C30754F659B3}" type="slidenum">
              <a:rPr lang="en-US" smtClean="0"/>
              <a:pPr/>
              <a:t>2</a:t>
            </a:fld>
            <a:endParaRPr lang="en-US" dirty="0"/>
          </a:p>
        </p:txBody>
      </p:sp>
      <p:sp>
        <p:nvSpPr>
          <p:cNvPr id="6" name="TextBox 5">
            <a:extLst>
              <a:ext uri="{FF2B5EF4-FFF2-40B4-BE49-F238E27FC236}">
                <a16:creationId xmlns:a16="http://schemas.microsoft.com/office/drawing/2014/main" id="{3953B1F8-2615-2026-1053-E17D560D78E7}"/>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7" name="TextBox 6">
            <a:extLst>
              <a:ext uri="{FF2B5EF4-FFF2-40B4-BE49-F238E27FC236}">
                <a16:creationId xmlns:a16="http://schemas.microsoft.com/office/drawing/2014/main" id="{2A7FC7F8-A1F0-ED44-2CA4-5AFD5E54CFB3}"/>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8" name="TextBox 7">
            <a:extLst>
              <a:ext uri="{FF2B5EF4-FFF2-40B4-BE49-F238E27FC236}">
                <a16:creationId xmlns:a16="http://schemas.microsoft.com/office/drawing/2014/main" id="{56CFDA3E-41F8-9E93-B9DE-1583A285F49A}"/>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9" name="Picture 8">
            <a:extLst>
              <a:ext uri="{FF2B5EF4-FFF2-40B4-BE49-F238E27FC236}">
                <a16:creationId xmlns:a16="http://schemas.microsoft.com/office/drawing/2014/main" id="{AC0D66E5-6405-6D97-BD59-FD6B7BE3E7B0}"/>
              </a:ext>
            </a:extLst>
          </p:cNvPr>
          <p:cNvPicPr>
            <a:picLocks noChangeAspect="1"/>
          </p:cNvPicPr>
          <p:nvPr/>
        </p:nvPicPr>
        <p:blipFill>
          <a:blip r:embed="rId2"/>
          <a:stretch>
            <a:fillRect/>
          </a:stretch>
        </p:blipFill>
        <p:spPr>
          <a:xfrm>
            <a:off x="311775" y="1274685"/>
            <a:ext cx="782083" cy="244774"/>
          </a:xfrm>
          <a:prstGeom prst="rect">
            <a:avLst/>
          </a:prstGeom>
        </p:spPr>
      </p:pic>
      <p:sp>
        <p:nvSpPr>
          <p:cNvPr id="10" name="Rectangle 9">
            <a:extLst>
              <a:ext uri="{FF2B5EF4-FFF2-40B4-BE49-F238E27FC236}">
                <a16:creationId xmlns:a16="http://schemas.microsoft.com/office/drawing/2014/main" id="{75EF49BE-C057-D78D-0C3C-6C8B26DB5380}"/>
              </a:ext>
            </a:extLst>
          </p:cNvPr>
          <p:cNvSpPr/>
          <p:nvPr/>
        </p:nvSpPr>
        <p:spPr bwMode="auto">
          <a:xfrm>
            <a:off x="228600" y="4925001"/>
            <a:ext cx="4175759" cy="452680"/>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Sensitivity 1</a:t>
            </a:r>
          </a:p>
        </p:txBody>
      </p:sp>
      <p:sp>
        <p:nvSpPr>
          <p:cNvPr id="11" name="Rectangle 10">
            <a:extLst>
              <a:ext uri="{FF2B5EF4-FFF2-40B4-BE49-F238E27FC236}">
                <a16:creationId xmlns:a16="http://schemas.microsoft.com/office/drawing/2014/main" id="{DC788D84-ABDC-EA58-B1EA-738F0B3FD097}"/>
              </a:ext>
            </a:extLst>
          </p:cNvPr>
          <p:cNvSpPr/>
          <p:nvPr/>
        </p:nvSpPr>
        <p:spPr bwMode="auto">
          <a:xfrm>
            <a:off x="4611758" y="4925001"/>
            <a:ext cx="4175759" cy="452680"/>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Sensitivity 2</a:t>
            </a:r>
          </a:p>
        </p:txBody>
      </p:sp>
      <p:sp>
        <p:nvSpPr>
          <p:cNvPr id="12" name="TextBox 11">
            <a:extLst>
              <a:ext uri="{FF2B5EF4-FFF2-40B4-BE49-F238E27FC236}">
                <a16:creationId xmlns:a16="http://schemas.microsoft.com/office/drawing/2014/main" id="{59E890A7-8B9A-6C4F-2744-081813E9F240}"/>
              </a:ext>
            </a:extLst>
          </p:cNvPr>
          <p:cNvSpPr txBox="1"/>
          <p:nvPr/>
        </p:nvSpPr>
        <p:spPr>
          <a:xfrm>
            <a:off x="304801" y="6078224"/>
            <a:ext cx="8527424" cy="338554"/>
          </a:xfrm>
          <a:prstGeom prst="rect">
            <a:avLst/>
          </a:prstGeom>
          <a:solidFill>
            <a:srgbClr val="002060"/>
          </a:solidFill>
        </p:spPr>
        <p:txBody>
          <a:bodyPr wrap="square" rtlCol="0">
            <a:spAutoFit/>
          </a:bodyPr>
          <a:lstStyle/>
          <a:p>
            <a:pPr algn="ctr"/>
            <a:r>
              <a:rPr lang="en-US" sz="1600" dirty="0">
                <a:solidFill>
                  <a:schemeClr val="bg1"/>
                </a:solidFill>
              </a:rPr>
              <a:t>We believe Nintendo should be valued between [$</a:t>
            </a:r>
            <a:r>
              <a:rPr lang="en-US" sz="1600" dirty="0" err="1">
                <a:solidFill>
                  <a:schemeClr val="bg1"/>
                </a:solidFill>
              </a:rPr>
              <a:t>xxB</a:t>
            </a:r>
            <a:r>
              <a:rPr lang="en-US" sz="1600" dirty="0">
                <a:solidFill>
                  <a:schemeClr val="bg1"/>
                </a:solidFill>
              </a:rPr>
              <a:t>-$</a:t>
            </a:r>
            <a:r>
              <a:rPr lang="en-US" sz="1600" dirty="0" err="1">
                <a:solidFill>
                  <a:schemeClr val="bg1"/>
                </a:solidFill>
              </a:rPr>
              <a:t>xxB</a:t>
            </a:r>
            <a:r>
              <a:rPr lang="en-US" sz="1600" dirty="0">
                <a:solidFill>
                  <a:schemeClr val="bg1"/>
                </a:solidFill>
              </a:rPr>
              <a:t>], with a midpoint valuation of $</a:t>
            </a:r>
            <a:r>
              <a:rPr lang="en-US" sz="1600" dirty="0" err="1">
                <a:solidFill>
                  <a:schemeClr val="bg1"/>
                </a:solidFill>
              </a:rPr>
              <a:t>xxB</a:t>
            </a:r>
            <a:endParaRPr lang="en-US" sz="1600" dirty="0">
              <a:solidFill>
                <a:schemeClr val="bg1"/>
              </a:solidFill>
            </a:endParaRPr>
          </a:p>
        </p:txBody>
      </p:sp>
    </p:spTree>
    <p:extLst>
      <p:ext uri="{BB962C8B-B14F-4D97-AF65-F5344CB8AC3E}">
        <p14:creationId xmlns:p14="http://schemas.microsoft.com/office/powerpoint/2010/main" val="3644007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80123</TotalTime>
  <Words>239</Words>
  <Application>Microsoft Macintosh PowerPoint</Application>
  <PresentationFormat>Letter Paper (8.5x11 in)</PresentationFormat>
  <Paragraphs>34</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Cambria</vt:lpstr>
      <vt:lpstr>Courier New</vt:lpstr>
      <vt:lpstr>Wingdings</vt:lpstr>
      <vt:lpstr>Wingdings 3</vt:lpstr>
      <vt:lpstr>USE THIS</vt:lpstr>
      <vt:lpstr>Nintendo | Company profile</vt:lpstr>
      <vt:lpstr>Nintendo | Discounted Cash Flow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Annabel Gurney</cp:lastModifiedBy>
  <cp:revision>1460</cp:revision>
  <cp:lastPrinted>2017-04-11T02:39:08Z</cp:lastPrinted>
  <dcterms:created xsi:type="dcterms:W3CDTF">2015-08-12T15:22:50Z</dcterms:created>
  <dcterms:modified xsi:type="dcterms:W3CDTF">2023-01-12T00:46:41Z</dcterms:modified>
</cp:coreProperties>
</file>