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Net Sales ($B)</c:v>
                </c:pt>
              </c:strCache>
            </c:strRef>
          </c:tx>
          <c:dLbls>
            <c:txPr>
              <a:bodyPr/>
              <a:lstStyle/>
              <a:p>
                <a:pPr>
                  <a:defRPr sz="700" b="0"/>
                </a:pPr>
              </a:p>
            </c:txPr>
            <c:showLegendKey val="0"/>
            <c:showVal val="0"/>
            <c:showCatName val="0"/>
            <c:showSerName val="0"/>
            <c:showPercent val="0"/>
            <c:showBubbleSize val="0"/>
            <c:showLeaderLines val="1"/>
          </c:dLbls>
          <c:cat>
            <c:strRef>
              <c:f>Sheet1!$A$2:$A$6</c:f>
              <c:strCache>
                <c:ptCount val="5"/>
                <c:pt idx="0">
                  <c:v>2017</c:v>
                </c:pt>
                <c:pt idx="1">
                  <c:v>2018</c:v>
                </c:pt>
                <c:pt idx="2">
                  <c:v>2019</c:v>
                </c:pt>
                <c:pt idx="3">
                  <c:v>2020</c:v>
                </c:pt>
                <c:pt idx="4">
                  <c:v>2021</c:v>
                </c:pt>
              </c:strCache>
            </c:strRef>
          </c:cat>
          <c:val>
            <c:numRef>
              <c:f>Sheet1!$B$2:$B$6</c:f>
              <c:numCache>
                <c:formatCode>General</c:formatCode>
                <c:ptCount val="5"/>
                <c:pt idx="0">
                  <c:v>4.45</c:v>
                </c:pt>
                <c:pt idx="1">
                  <c:v>9.6</c:v>
                </c:pt>
                <c:pt idx="2">
                  <c:v>10.91</c:v>
                </c:pt>
                <c:pt idx="3">
                  <c:v>11.9</c:v>
                </c:pt>
                <c:pt idx="4">
                  <c:v>15.99</c:v>
                </c:pt>
              </c:numCache>
            </c:numRef>
          </c:val>
        </c:ser>
        <c:ser>
          <c:idx val="1"/>
          <c:order val="1"/>
          <c:tx>
            <c:strRef>
              <c:f>Sheet1!$C$1</c:f>
              <c:strCache>
                <c:ptCount val="1"/>
                <c:pt idx="0">
                  <c:v>Op. Profit ($B)</c:v>
                </c:pt>
              </c:strCache>
            </c:strRef>
          </c:tx>
          <c:dLbls>
            <c:txPr>
              <a:bodyPr/>
              <a:lstStyle/>
              <a:p>
                <a:pPr>
                  <a:defRPr sz="700" b="0"/>
                </a:pPr>
              </a:p>
            </c:txPr>
            <c:showLegendKey val="0"/>
            <c:showVal val="0"/>
            <c:showCatName val="0"/>
            <c:showSerName val="0"/>
            <c:showPercent val="0"/>
            <c:showBubbleSize val="0"/>
            <c:showLeaderLines val="1"/>
          </c:dLbls>
          <c:cat>
            <c:strRef>
              <c:f>Sheet1!$A$2:$A$6</c:f>
              <c:strCache>
                <c:ptCount val="5"/>
                <c:pt idx="0">
                  <c:v>2017</c:v>
                </c:pt>
                <c:pt idx="1">
                  <c:v>2018</c:v>
                </c:pt>
                <c:pt idx="2">
                  <c:v>2019</c:v>
                </c:pt>
                <c:pt idx="3">
                  <c:v>2020</c:v>
                </c:pt>
                <c:pt idx="4">
                  <c:v>2021</c:v>
                </c:pt>
              </c:strCache>
            </c:strRef>
          </c:cat>
          <c:val>
            <c:numRef>
              <c:f>Sheet1!$C$2:$C$6</c:f>
              <c:numCache>
                <c:formatCode>General</c:formatCode>
                <c:ptCount val="5"/>
                <c:pt idx="0">
                  <c:v>0.27</c:v>
                </c:pt>
                <c:pt idx="1">
                  <c:v>1.61</c:v>
                </c:pt>
                <c:pt idx="2">
                  <c:v>2.27</c:v>
                </c:pt>
                <c:pt idx="3">
                  <c:v>3.2</c:v>
                </c:pt>
                <c:pt idx="4">
                  <c:v>5.82</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Revenue Share</c:v>
                </c:pt>
              </c:strCache>
            </c:strRef>
          </c:tx>
          <c:cat>
            <c:strRef>
              <c:f>Sheet1!$A$2:$A$5</c:f>
              <c:strCache>
                <c:ptCount val="4"/>
                <c:pt idx="0">
                  <c:v>Americas</c:v>
                </c:pt>
                <c:pt idx="1">
                  <c:v>Europe</c:v>
                </c:pt>
                <c:pt idx="2">
                  <c:v>Japan</c:v>
                </c:pt>
                <c:pt idx="3">
                  <c:v>Other</c:v>
                </c:pt>
              </c:strCache>
            </c:strRef>
          </c:cat>
          <c:val>
            <c:numRef>
              <c:f>Sheet1!$B$2:$B$5</c:f>
              <c:numCache>
                <c:formatCode>General</c:formatCode>
                <c:ptCount val="4"/>
                <c:pt idx="0">
                  <c:v>40</c:v>
                </c:pt>
                <c:pt idx="1">
                  <c:v>30</c:v>
                </c:pt>
                <c:pt idx="2">
                  <c:v>22</c:v>
                </c:pt>
                <c:pt idx="3">
                  <c:v>8</c:v>
                </c:pt>
              </c:numCache>
            </c:numRef>
          </c:val>
        </c:ser>
        <c:dLbls>
          <c:txPr>
            <a:bodyPr/>
            <a:lstStyle/>
            <a:p>
              <a:pPr>
                <a:defRPr sz="800"/>
              </a:pPr>
            </a:p>
          </c:txPr>
          <c:showLegendKey val="0"/>
          <c:showVal val="0"/>
          <c:showCatName val="0"/>
          <c:showSerName val="0"/>
          <c:showPercent val="1"/>
          <c:showBubbleSize val="0"/>
          <c:showLeaderLines val="1"/>
        </c:dLbls>
      </c:pieChart>
    </c:plotArea>
    <c:legend>
      <c:legendPos/>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9728"/>
            <a:ext cx="10972800" cy="411480"/>
          </a:xfrm>
          <a:prstGeom prst="rect">
            <a:avLst/>
          </a:prstGeom>
          <a:noFill/>
        </p:spPr>
        <p:txBody>
          <a:bodyPr wrap="square">
            <a:spAutoFit/>
          </a:bodyPr>
          <a:lstStyle/>
          <a:p>
            <a:pPr algn="l">
              <a:defRPr sz="2000" b="1">
                <a:solidFill>
                  <a:srgbClr val="FFFFFF"/>
                </a:solidFill>
              </a:defRPr>
            </a:pPr>
            <a:r>
              <a:t>Nintendo | Company profile</a:t>
            </a:r>
          </a:p>
        </p:txBody>
      </p:sp>
      <p:sp>
        <p:nvSpPr>
          <p:cNvPr id="4" name="TextBox 3"/>
          <p:cNvSpPr txBox="1"/>
          <p:nvPr/>
        </p:nvSpPr>
        <p:spPr>
          <a:xfrm>
            <a:off x="228600" y="713232"/>
            <a:ext cx="5669280" cy="201168"/>
          </a:xfrm>
          <a:prstGeom prst="rect">
            <a:avLst/>
          </a:prstGeom>
          <a:noFill/>
        </p:spPr>
        <p:txBody>
          <a:bodyPr wrap="square">
            <a:spAutoFit/>
          </a:bodyPr>
          <a:lstStyle/>
          <a:p>
            <a:pPr algn="l">
              <a:defRPr sz="1200" b="1">
                <a:solidFill>
                  <a:srgbClr val="1F4E79"/>
                </a:solidFill>
              </a:defRPr>
            </a:pPr>
            <a:r>
              <a:t>Overview</a:t>
            </a:r>
          </a:p>
        </p:txBody>
      </p:sp>
      <p:sp>
        <p:nvSpPr>
          <p:cNvPr id="5" name="TextBox 4"/>
          <p:cNvSpPr txBox="1"/>
          <p:nvPr/>
        </p:nvSpPr>
        <p:spPr>
          <a:xfrm>
            <a:off x="228600" y="896112"/>
            <a:ext cx="5669280" cy="777240"/>
          </a:xfrm>
          <a:prstGeom prst="rect">
            <a:avLst/>
          </a:prstGeom>
          <a:noFill/>
        </p:spPr>
        <p:txBody>
          <a:bodyPr wrap="square">
            <a:spAutoFit/>
          </a:bodyPr>
          <a:lstStyle/>
          <a:p>
            <a:pPr algn="l">
              <a:defRPr sz="750" b="0">
                <a:solidFill>
                  <a:srgbClr val="000000"/>
                </a:solidFill>
              </a:defRPr>
            </a:pPr>
            <a:r>
              <a:t>Headquarters: Kyoto, Japan</a:t>
            </a:r>
            <a:br/>
            <a:r>
              <a:t>Founded: 1889 (playing cards); entered video games in 1970s</a:t>
            </a:r>
            <a:br/>
            <a:r>
              <a:t>Employees: 6,574 (as of March 31, 2021)</a:t>
            </a:r>
            <a:br/>
            <a:r>
              <a:t>President: Shuntaro Furukawa</a:t>
            </a:r>
          </a:p>
        </p:txBody>
      </p:sp>
      <p:sp>
        <p:nvSpPr>
          <p:cNvPr id="6" name="TextBox 5"/>
          <p:cNvSpPr txBox="1"/>
          <p:nvPr/>
        </p:nvSpPr>
        <p:spPr>
          <a:xfrm>
            <a:off x="228600" y="1719072"/>
            <a:ext cx="5669280" cy="201168"/>
          </a:xfrm>
          <a:prstGeom prst="rect">
            <a:avLst/>
          </a:prstGeom>
          <a:noFill/>
        </p:spPr>
        <p:txBody>
          <a:bodyPr wrap="square">
            <a:spAutoFit/>
          </a:bodyPr>
          <a:lstStyle/>
          <a:p>
            <a:pPr algn="l">
              <a:defRPr sz="1200" b="1">
                <a:solidFill>
                  <a:srgbClr val="1F4E79"/>
                </a:solidFill>
              </a:defRPr>
            </a:pPr>
            <a:r>
              <a:t>Strategic Rationale</a:t>
            </a:r>
          </a:p>
        </p:txBody>
      </p:sp>
      <p:sp>
        <p:nvSpPr>
          <p:cNvPr id="7" name="TextBox 6"/>
          <p:cNvSpPr txBox="1"/>
          <p:nvPr/>
        </p:nvSpPr>
        <p:spPr>
          <a:xfrm>
            <a:off x="228600" y="1901952"/>
            <a:ext cx="5669280" cy="1051560"/>
          </a:xfrm>
          <a:prstGeom prst="rect">
            <a:avLst/>
          </a:prstGeom>
          <a:noFill/>
        </p:spPr>
        <p:txBody>
          <a:bodyPr wrap="square">
            <a:spAutoFit/>
          </a:bodyPr>
          <a:lstStyle/>
          <a:p>
            <a:pPr algn="l">
              <a:defRPr sz="700" b="0">
                <a:solidFill>
                  <a:srgbClr val="000000"/>
                </a:solidFill>
              </a:defRPr>
            </a:pPr>
            <a:r>
              <a:t>• Strengthen Gaming Capabilities – Webflix would immediately accelerate its internal video game content capabilities, creating stronger, “stickier” relationships with its existing customer base while also serving to expand the size of its total addressable market.</a:t>
            </a:r>
            <a:br/>
            <a:br/>
            <a:r>
              <a:t>• Deepen Penetration in APAC Region – By acquiring Nintendo, Webflix would be able to bolster its market penetration in the key Asia-Pacific region, for which it currently has lower share compared to North America and Europe.</a:t>
            </a:r>
          </a:p>
        </p:txBody>
      </p:sp>
      <p:sp>
        <p:nvSpPr>
          <p:cNvPr id="8" name="TextBox 7"/>
          <p:cNvSpPr txBox="1"/>
          <p:nvPr/>
        </p:nvSpPr>
        <p:spPr>
          <a:xfrm>
            <a:off x="228600" y="3017520"/>
            <a:ext cx="5669280" cy="201168"/>
          </a:xfrm>
          <a:prstGeom prst="rect">
            <a:avLst/>
          </a:prstGeom>
          <a:noFill/>
        </p:spPr>
        <p:txBody>
          <a:bodyPr wrap="square">
            <a:spAutoFit/>
          </a:bodyPr>
          <a:lstStyle/>
          <a:p>
            <a:pPr algn="l">
              <a:defRPr sz="1200" b="1">
                <a:solidFill>
                  <a:srgbClr val="1F4E79"/>
                </a:solidFill>
              </a:defRPr>
            </a:pPr>
            <a:r>
              <a:t>Company Overview</a:t>
            </a:r>
          </a:p>
        </p:txBody>
      </p:sp>
      <p:sp>
        <p:nvSpPr>
          <p:cNvPr id="9" name="TextBox 8"/>
          <p:cNvSpPr txBox="1"/>
          <p:nvPr/>
        </p:nvSpPr>
        <p:spPr>
          <a:xfrm>
            <a:off x="228600" y="3200400"/>
            <a:ext cx="5669280" cy="1828800"/>
          </a:xfrm>
          <a:prstGeom prst="rect">
            <a:avLst/>
          </a:prstGeom>
          <a:noFill/>
        </p:spPr>
        <p:txBody>
          <a:bodyPr wrap="square">
            <a:spAutoFit/>
          </a:bodyPr>
          <a:lstStyle/>
          <a:p>
            <a:pPr algn="l">
              <a:defRPr sz="700" b="0">
                <a:solidFill>
                  <a:srgbClr val="000000"/>
                </a:solidFill>
              </a:defRPr>
            </a:pPr>
            <a:r>
              <a:t>• What the company does: Leading developer, manufacturer, and publisher of video games and dedicated video game platforms (home consoles and handhelds).</a:t>
            </a:r>
            <a:br/>
            <a:br/>
            <a:r>
              <a:t>• Position in the industry: One of the “Big Three” global gaming companies (alongside Sony and Microsoft); renowned for family-friendly, innovative hardware and iconic first-party franchises.</a:t>
            </a:r>
            <a:br/>
            <a:br/>
            <a:r>
              <a:t>• Products it sells: Nintendo Switch (hybrid console), handheld systems (3DS/2DS family), major software titles including Mario, The Legend of Zelda, Pokémon, Animal Crossing, and Splatoon.</a:t>
            </a:r>
            <a:br/>
            <a:br/>
            <a:r>
              <a:t>• Company history and reputation: Founded in 1889 as a playing card company in Kyoto; pioneered the home video game industry with the NES (1985) and Game Boy (1989); maintains an unmatched reputation for high-quality, accessible entertainment and strong multi-generational brand loyalty.</a:t>
            </a:r>
          </a:p>
        </p:txBody>
      </p:sp>
      <p:sp>
        <p:nvSpPr>
          <p:cNvPr id="10" name="TextBox 9"/>
          <p:cNvSpPr txBox="1"/>
          <p:nvPr/>
        </p:nvSpPr>
        <p:spPr>
          <a:xfrm>
            <a:off x="6126480" y="713232"/>
            <a:ext cx="5760720" cy="201168"/>
          </a:xfrm>
          <a:prstGeom prst="rect">
            <a:avLst/>
          </a:prstGeom>
          <a:noFill/>
        </p:spPr>
        <p:txBody>
          <a:bodyPr wrap="square">
            <a:spAutoFit/>
          </a:bodyPr>
          <a:lstStyle/>
          <a:p>
            <a:pPr algn="l">
              <a:defRPr sz="1100" b="1">
                <a:solidFill>
                  <a:srgbClr val="1F4E79"/>
                </a:solidFill>
              </a:defRPr>
            </a:pPr>
            <a:r>
              <a:t>Historical Financials ($ in Billions)</a:t>
            </a:r>
          </a:p>
        </p:txBody>
      </p:sp>
      <p:graphicFrame>
        <p:nvGraphicFramePr>
          <p:cNvPr id="11" name="Table 10"/>
          <p:cNvGraphicFramePr>
            <a:graphicFrameLocks noGrp="1"/>
          </p:cNvGraphicFramePr>
          <p:nvPr/>
        </p:nvGraphicFramePr>
        <p:xfrm>
          <a:off x="6126480" y="896112"/>
          <a:ext cx="5760720" cy="548640"/>
        </p:xfrm>
        <a:graphic>
          <a:graphicData uri="http://schemas.openxmlformats.org/drawingml/2006/table">
            <a:tbl>
              <a:tblPr firstRow="1" bandRow="1">
                <a:tableStyleId>{5C22544A-7EE6-4342-B048-85BDC9FD1C3A}</a:tableStyleId>
              </a:tblPr>
              <a:tblGrid>
                <a:gridCol w="1920240"/>
                <a:gridCol w="768096"/>
                <a:gridCol w="768096"/>
                <a:gridCol w="768096"/>
                <a:gridCol w="768096"/>
                <a:gridCol w="768096"/>
              </a:tblGrid>
              <a:tr h="182880">
                <a:tc>
                  <a:txBody>
                    <a:bodyPr/>
                    <a:lstStyle/>
                    <a:p>
                      <a:pPr algn="ctr">
                        <a:defRPr sz="750" b="1">
                          <a:solidFill>
                            <a:srgbClr val="FFFFFF"/>
                          </a:solidFill>
                        </a:defRPr>
                      </a:pPr>
                      <a:r>
                        <a:t>Fiscal Year (ended Mar 31)</a:t>
                      </a:r>
                    </a:p>
                  </a:txBody>
                  <a:tcPr>
                    <a:solidFill>
                      <a:srgbClr val="1F4E79"/>
                    </a:solidFill>
                  </a:tcPr>
                </a:tc>
                <a:tc>
                  <a:txBody>
                    <a:bodyPr/>
                    <a:lstStyle/>
                    <a:p>
                      <a:pPr algn="ctr">
                        <a:defRPr sz="750" b="1">
                          <a:solidFill>
                            <a:srgbClr val="FFFFFF"/>
                          </a:solidFill>
                        </a:defRPr>
                      </a:pPr>
                      <a:r>
                        <a:t>2017</a:t>
                      </a:r>
                    </a:p>
                  </a:txBody>
                  <a:tcPr>
                    <a:solidFill>
                      <a:srgbClr val="1F4E79"/>
                    </a:solidFill>
                  </a:tcPr>
                </a:tc>
                <a:tc>
                  <a:txBody>
                    <a:bodyPr/>
                    <a:lstStyle/>
                    <a:p>
                      <a:pPr algn="ctr">
                        <a:defRPr sz="750" b="1">
                          <a:solidFill>
                            <a:srgbClr val="FFFFFF"/>
                          </a:solidFill>
                        </a:defRPr>
                      </a:pPr>
                      <a:r>
                        <a:t>2018</a:t>
                      </a:r>
                    </a:p>
                  </a:txBody>
                  <a:tcPr>
                    <a:solidFill>
                      <a:srgbClr val="1F4E79"/>
                    </a:solidFill>
                  </a:tcPr>
                </a:tc>
                <a:tc>
                  <a:txBody>
                    <a:bodyPr/>
                    <a:lstStyle/>
                    <a:p>
                      <a:pPr algn="ctr">
                        <a:defRPr sz="750" b="1">
                          <a:solidFill>
                            <a:srgbClr val="FFFFFF"/>
                          </a:solidFill>
                        </a:defRPr>
                      </a:pPr>
                      <a:r>
                        <a:t>2019</a:t>
                      </a:r>
                    </a:p>
                  </a:txBody>
                  <a:tcPr>
                    <a:solidFill>
                      <a:srgbClr val="1F4E79"/>
                    </a:solidFill>
                  </a:tcPr>
                </a:tc>
                <a:tc>
                  <a:txBody>
                    <a:bodyPr/>
                    <a:lstStyle/>
                    <a:p>
                      <a:pPr algn="ctr">
                        <a:defRPr sz="750" b="1">
                          <a:solidFill>
                            <a:srgbClr val="FFFFFF"/>
                          </a:solidFill>
                        </a:defRPr>
                      </a:pPr>
                      <a:r>
                        <a:t>2020</a:t>
                      </a:r>
                    </a:p>
                  </a:txBody>
                  <a:tcPr>
                    <a:solidFill>
                      <a:srgbClr val="1F4E79"/>
                    </a:solidFill>
                  </a:tcPr>
                </a:tc>
                <a:tc>
                  <a:txBody>
                    <a:bodyPr/>
                    <a:lstStyle/>
                    <a:p>
                      <a:pPr algn="ctr">
                        <a:defRPr sz="750" b="1">
                          <a:solidFill>
                            <a:srgbClr val="FFFFFF"/>
                          </a:solidFill>
                        </a:defRPr>
                      </a:pPr>
                      <a:r>
                        <a:t>2021</a:t>
                      </a:r>
                    </a:p>
                  </a:txBody>
                  <a:tcPr>
                    <a:solidFill>
                      <a:srgbClr val="1F4E79"/>
                    </a:solidFill>
                  </a:tcPr>
                </a:tc>
              </a:tr>
              <a:tr h="182880">
                <a:tc>
                  <a:txBody>
                    <a:bodyPr/>
                    <a:lstStyle/>
                    <a:p>
                      <a:pPr algn="ctr">
                        <a:defRPr sz="750"/>
                      </a:pPr>
                      <a:r>
                        <a:t>Net Sales</a:t>
                      </a:r>
                    </a:p>
                  </a:txBody>
                  <a:tcPr/>
                </a:tc>
                <a:tc>
                  <a:txBody>
                    <a:bodyPr/>
                    <a:lstStyle/>
                    <a:p>
                      <a:pPr algn="ctr">
                        <a:defRPr sz="750"/>
                      </a:pPr>
                      <a:r>
                        <a:t>$4.45</a:t>
                      </a:r>
                    </a:p>
                  </a:txBody>
                  <a:tcPr/>
                </a:tc>
                <a:tc>
                  <a:txBody>
                    <a:bodyPr/>
                    <a:lstStyle/>
                    <a:p>
                      <a:pPr algn="ctr">
                        <a:defRPr sz="750"/>
                      </a:pPr>
                      <a:r>
                        <a:t>$9.60</a:t>
                      </a:r>
                    </a:p>
                  </a:txBody>
                  <a:tcPr/>
                </a:tc>
                <a:tc>
                  <a:txBody>
                    <a:bodyPr/>
                    <a:lstStyle/>
                    <a:p>
                      <a:pPr algn="ctr">
                        <a:defRPr sz="750"/>
                      </a:pPr>
                      <a:r>
                        <a:t>$10.91</a:t>
                      </a:r>
                    </a:p>
                  </a:txBody>
                  <a:tcPr/>
                </a:tc>
                <a:tc>
                  <a:txBody>
                    <a:bodyPr/>
                    <a:lstStyle/>
                    <a:p>
                      <a:pPr algn="ctr">
                        <a:defRPr sz="750"/>
                      </a:pPr>
                      <a:r>
                        <a:t>$11.90</a:t>
                      </a:r>
                    </a:p>
                  </a:txBody>
                  <a:tcPr/>
                </a:tc>
                <a:tc>
                  <a:txBody>
                    <a:bodyPr/>
                    <a:lstStyle/>
                    <a:p>
                      <a:pPr algn="ctr">
                        <a:defRPr sz="750"/>
                      </a:pPr>
                      <a:r>
                        <a:t>$15.99</a:t>
                      </a:r>
                    </a:p>
                  </a:txBody>
                  <a:tcPr/>
                </a:tc>
              </a:tr>
              <a:tr h="182880">
                <a:tc>
                  <a:txBody>
                    <a:bodyPr/>
                    <a:lstStyle/>
                    <a:p>
                      <a:pPr algn="ctr">
                        <a:defRPr sz="750"/>
                      </a:pPr>
                      <a:r>
                        <a:t>Operating Profit</a:t>
                      </a:r>
                    </a:p>
                  </a:txBody>
                  <a:tcPr/>
                </a:tc>
                <a:tc>
                  <a:txBody>
                    <a:bodyPr/>
                    <a:lstStyle/>
                    <a:p>
                      <a:pPr algn="ctr">
                        <a:defRPr sz="750"/>
                      </a:pPr>
                      <a:r>
                        <a:t>$0.27</a:t>
                      </a:r>
                    </a:p>
                  </a:txBody>
                  <a:tcPr/>
                </a:tc>
                <a:tc>
                  <a:txBody>
                    <a:bodyPr/>
                    <a:lstStyle/>
                    <a:p>
                      <a:pPr algn="ctr">
                        <a:defRPr sz="750"/>
                      </a:pPr>
                      <a:r>
                        <a:t>$1.61</a:t>
                      </a:r>
                    </a:p>
                  </a:txBody>
                  <a:tcPr/>
                </a:tc>
                <a:tc>
                  <a:txBody>
                    <a:bodyPr/>
                    <a:lstStyle/>
                    <a:p>
                      <a:pPr algn="ctr">
                        <a:defRPr sz="750"/>
                      </a:pPr>
                      <a:r>
                        <a:t>$2.27</a:t>
                      </a:r>
                    </a:p>
                  </a:txBody>
                  <a:tcPr/>
                </a:tc>
                <a:tc>
                  <a:txBody>
                    <a:bodyPr/>
                    <a:lstStyle/>
                    <a:p>
                      <a:pPr algn="ctr">
                        <a:defRPr sz="750"/>
                      </a:pPr>
                      <a:r>
                        <a:t>$3.20</a:t>
                      </a:r>
                    </a:p>
                  </a:txBody>
                  <a:tcPr/>
                </a:tc>
                <a:tc>
                  <a:txBody>
                    <a:bodyPr/>
                    <a:lstStyle/>
                    <a:p>
                      <a:pPr algn="ctr">
                        <a:defRPr sz="750"/>
                      </a:pPr>
                      <a:r>
                        <a:t>$5.82</a:t>
                      </a:r>
                    </a:p>
                  </a:txBody>
                  <a:tcPr/>
                </a:tc>
              </a:tr>
            </a:tbl>
          </a:graphicData>
        </a:graphic>
      </p:graphicFrame>
      <p:sp>
        <p:nvSpPr>
          <p:cNvPr id="12" name="TextBox 11"/>
          <p:cNvSpPr txBox="1"/>
          <p:nvPr/>
        </p:nvSpPr>
        <p:spPr>
          <a:xfrm>
            <a:off x="6126480" y="1554480"/>
            <a:ext cx="5760720" cy="201168"/>
          </a:xfrm>
          <a:prstGeom prst="rect">
            <a:avLst/>
          </a:prstGeom>
          <a:noFill/>
        </p:spPr>
        <p:txBody>
          <a:bodyPr wrap="square">
            <a:spAutoFit/>
          </a:bodyPr>
          <a:lstStyle/>
          <a:p>
            <a:pPr algn="l">
              <a:defRPr sz="1000" b="1">
                <a:solidFill>
                  <a:srgbClr val="1F4E79"/>
                </a:solidFill>
              </a:defRPr>
            </a:pPr>
            <a:r>
              <a:t>Revenue by Geography (FY2021 approx.)</a:t>
            </a:r>
          </a:p>
        </p:txBody>
      </p:sp>
      <p:sp>
        <p:nvSpPr>
          <p:cNvPr id="13" name="TextBox 12"/>
          <p:cNvSpPr txBox="1"/>
          <p:nvPr/>
        </p:nvSpPr>
        <p:spPr>
          <a:xfrm>
            <a:off x="6126480" y="1737360"/>
            <a:ext cx="5760720" cy="320040"/>
          </a:xfrm>
          <a:prstGeom prst="rect">
            <a:avLst/>
          </a:prstGeom>
          <a:noFill/>
        </p:spPr>
        <p:txBody>
          <a:bodyPr wrap="square">
            <a:spAutoFit/>
          </a:bodyPr>
          <a:lstStyle/>
          <a:p>
            <a:pPr algn="l">
              <a:defRPr sz="800" b="0">
                <a:solidFill>
                  <a:srgbClr val="000000"/>
                </a:solidFill>
              </a:defRPr>
            </a:pPr>
            <a:r>
              <a:t>Americas ~40% | Europe ~30% | Japan ~22% | Other ~8%</a:t>
            </a:r>
          </a:p>
        </p:txBody>
      </p:sp>
      <p:sp>
        <p:nvSpPr>
          <p:cNvPr id="14" name="TextBox 13"/>
          <p:cNvSpPr txBox="1"/>
          <p:nvPr/>
        </p:nvSpPr>
        <p:spPr>
          <a:xfrm>
            <a:off x="6126480" y="2148840"/>
            <a:ext cx="5760720" cy="201168"/>
          </a:xfrm>
          <a:prstGeom prst="rect">
            <a:avLst/>
          </a:prstGeom>
          <a:noFill/>
        </p:spPr>
        <p:txBody>
          <a:bodyPr wrap="square">
            <a:spAutoFit/>
          </a:bodyPr>
          <a:lstStyle/>
          <a:p>
            <a:pPr algn="l">
              <a:defRPr sz="1000" b="1">
                <a:solidFill>
                  <a:srgbClr val="1F4E79"/>
                </a:solidFill>
              </a:defRPr>
            </a:pPr>
            <a:r>
              <a:t>Key Franchise Assets</a:t>
            </a:r>
          </a:p>
        </p:txBody>
      </p:sp>
      <p:sp>
        <p:nvSpPr>
          <p:cNvPr id="15" name="TextBox 14"/>
          <p:cNvSpPr txBox="1"/>
          <p:nvPr/>
        </p:nvSpPr>
        <p:spPr>
          <a:xfrm>
            <a:off x="6126480" y="2331720"/>
            <a:ext cx="5760720" cy="640080"/>
          </a:xfrm>
          <a:prstGeom prst="rect">
            <a:avLst/>
          </a:prstGeom>
          <a:noFill/>
        </p:spPr>
        <p:txBody>
          <a:bodyPr wrap="square">
            <a:spAutoFit/>
          </a:bodyPr>
          <a:lstStyle/>
          <a:p>
            <a:pPr algn="l">
              <a:defRPr sz="800" b="0">
                <a:solidFill>
                  <a:srgbClr val="000000"/>
                </a:solidFill>
              </a:defRPr>
            </a:pPr>
            <a:r>
              <a:t>• Mario (highest-grossing media franchise in history)</a:t>
            </a:r>
            <a:br/>
            <a:r>
              <a:t>• Pokémon (with The Pokémon Company)</a:t>
            </a:r>
            <a:br/>
            <a:r>
              <a:t>• The Legend of Zelda, Animal Crossing, Splatoon</a:t>
            </a:r>
          </a:p>
        </p:txBody>
      </p:sp>
      <p:graphicFrame>
        <p:nvGraphicFramePr>
          <p:cNvPr id="16" name="Chart 15"/>
          <p:cNvGraphicFramePr>
            <a:graphicFrameLocks noGrp="1"/>
          </p:cNvGraphicFramePr>
          <p:nvPr/>
        </p:nvGraphicFramePr>
        <p:xfrm>
          <a:off x="6126480" y="3063240"/>
          <a:ext cx="5760720" cy="2377440"/>
        </p:xfrm>
        <a:graphic>
          <a:graphicData uri="http://schemas.openxmlformats.org/drawingml/2006/chart">
            <c:chart xmlns:c="http://schemas.openxmlformats.org/drawingml/2006/chart" r:id="rId2"/>
          </a:graphicData>
        </a:graphic>
      </p:graphicFrame>
      <p:graphicFrame>
        <p:nvGraphicFramePr>
          <p:cNvPr id="17" name="Chart 16"/>
          <p:cNvGraphicFramePr>
            <a:graphicFrameLocks noGrp="1"/>
          </p:cNvGraphicFramePr>
          <p:nvPr/>
        </p:nvGraphicFramePr>
        <p:xfrm>
          <a:off x="228600" y="5212080"/>
          <a:ext cx="4389120" cy="1554480"/>
        </p:xfrm>
        <a:graphic>
          <a:graphicData uri="http://schemas.openxmlformats.org/drawingml/2006/chart">
            <c:chart xmlns:c="http://schemas.openxmlformats.org/drawingml/2006/chart" r:id="rId3"/>
          </a:graphicData>
        </a:graphic>
      </p:graphicFrame>
      <p:sp>
        <p:nvSpPr>
          <p:cNvPr id="18" name="TextBox 17"/>
          <p:cNvSpPr txBox="1"/>
          <p:nvPr/>
        </p:nvSpPr>
        <p:spPr>
          <a:xfrm>
            <a:off x="228600" y="6583680"/>
            <a:ext cx="11704320" cy="182880"/>
          </a:xfrm>
          <a:prstGeom prst="rect">
            <a:avLst/>
          </a:prstGeom>
          <a:noFill/>
        </p:spPr>
        <p:txBody>
          <a:bodyPr wrap="square">
            <a:spAutoFit/>
          </a:bodyPr>
          <a:lstStyle/>
          <a:p>
            <a:pPr algn="ctr">
              <a:defRPr sz="650" b="0">
                <a:solidFill>
                  <a:srgbClr val="808080"/>
                </a:solidFill>
              </a:defRPr>
            </a:pPr>
            <a:r>
              <a:t>Source: Nintendo Annual Report 2021 | Bank of America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09728"/>
            <a:ext cx="10972800" cy="411480"/>
          </a:xfrm>
          <a:prstGeom prst="rect">
            <a:avLst/>
          </a:prstGeom>
          <a:noFill/>
        </p:spPr>
        <p:txBody>
          <a:bodyPr wrap="square">
            <a:spAutoFit/>
          </a:bodyPr>
          <a:lstStyle/>
          <a:p>
            <a:pPr algn="l">
              <a:defRPr sz="2000" b="1">
                <a:solidFill>
                  <a:srgbClr val="FFFFFF"/>
                </a:solidFill>
              </a:defRPr>
            </a:pPr>
            <a:r>
              <a:t>Nintendo | Discounted Cash Flow Analysis</a:t>
            </a:r>
          </a:p>
        </p:txBody>
      </p:sp>
      <p:sp>
        <p:nvSpPr>
          <p:cNvPr id="4" name="Rounded Rectangle 3"/>
          <p:cNvSpPr/>
          <p:nvPr/>
        </p:nvSpPr>
        <p:spPr>
          <a:xfrm>
            <a:off x="228600" y="713232"/>
            <a:ext cx="5120640" cy="914400"/>
          </a:xfrm>
          <a:prstGeom prst="roundRect">
            <a:avLst/>
          </a:prstGeom>
          <a:solidFill>
            <a:srgbClr val="FFF2C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49808"/>
            <a:ext cx="4846320" cy="182880"/>
          </a:xfrm>
          <a:prstGeom prst="rect">
            <a:avLst/>
          </a:prstGeom>
          <a:noFill/>
        </p:spPr>
        <p:txBody>
          <a:bodyPr wrap="square">
            <a:spAutoFit/>
          </a:bodyPr>
          <a:lstStyle/>
          <a:p>
            <a:pPr algn="l">
              <a:defRPr sz="1000" b="1">
                <a:solidFill>
                  <a:srgbClr val="1F4E79"/>
                </a:solidFill>
              </a:defRPr>
            </a:pPr>
            <a:r>
              <a:t>Implied Valuation Summary</a:t>
            </a:r>
          </a:p>
        </p:txBody>
      </p:sp>
      <p:sp>
        <p:nvSpPr>
          <p:cNvPr id="6" name="TextBox 5"/>
          <p:cNvSpPr txBox="1"/>
          <p:nvPr/>
        </p:nvSpPr>
        <p:spPr>
          <a:xfrm>
            <a:off x="365760" y="914400"/>
            <a:ext cx="4846320" cy="640080"/>
          </a:xfrm>
          <a:prstGeom prst="rect">
            <a:avLst/>
          </a:prstGeom>
          <a:noFill/>
        </p:spPr>
        <p:txBody>
          <a:bodyPr wrap="square">
            <a:spAutoFit/>
          </a:bodyPr>
          <a:lstStyle/>
          <a:p>
            <a:pPr algn="l">
              <a:defRPr sz="850" b="0">
                <a:solidFill>
                  <a:srgbClr val="000000"/>
                </a:solidFill>
              </a:defRPr>
            </a:pPr>
            <a:r>
              <a:t>Implied Enterprise Value: $69.56B</a:t>
            </a:r>
            <a:br/>
            <a:r>
              <a:t>Implied Equity Value: $78.71B</a:t>
            </a:r>
            <a:br/>
            <a:r>
              <a:t>Implied Share Price: $78.71</a:t>
            </a:r>
          </a:p>
        </p:txBody>
      </p:sp>
      <p:sp>
        <p:nvSpPr>
          <p:cNvPr id="7" name="TextBox 6"/>
          <p:cNvSpPr txBox="1"/>
          <p:nvPr/>
        </p:nvSpPr>
        <p:spPr>
          <a:xfrm>
            <a:off x="5669280" y="713232"/>
            <a:ext cx="6217920" cy="182880"/>
          </a:xfrm>
          <a:prstGeom prst="rect">
            <a:avLst/>
          </a:prstGeom>
          <a:noFill/>
        </p:spPr>
        <p:txBody>
          <a:bodyPr wrap="square">
            <a:spAutoFit/>
          </a:bodyPr>
          <a:lstStyle/>
          <a:p>
            <a:pPr algn="l">
              <a:defRPr sz="1000" b="1">
                <a:solidFill>
                  <a:srgbClr val="1F4E79"/>
                </a:solidFill>
              </a:defRPr>
            </a:pPr>
            <a:r>
              <a:t>DCF Key Outputs</a:t>
            </a:r>
          </a:p>
        </p:txBody>
      </p:sp>
      <p:sp>
        <p:nvSpPr>
          <p:cNvPr id="8" name="TextBox 7"/>
          <p:cNvSpPr txBox="1"/>
          <p:nvPr/>
        </p:nvSpPr>
        <p:spPr>
          <a:xfrm>
            <a:off x="5669280" y="877824"/>
            <a:ext cx="6217920" cy="777240"/>
          </a:xfrm>
          <a:prstGeom prst="rect">
            <a:avLst/>
          </a:prstGeom>
          <a:noFill/>
        </p:spPr>
        <p:txBody>
          <a:bodyPr wrap="square">
            <a:spAutoFit/>
          </a:bodyPr>
          <a:lstStyle/>
          <a:p>
            <a:pPr algn="l">
              <a:defRPr sz="750" b="0">
                <a:solidFill>
                  <a:srgbClr val="000000"/>
                </a:solidFill>
              </a:defRPr>
            </a:pPr>
            <a:r>
              <a:t>• 5-year forecast (2022E-2026E) with 5% revenue growth</a:t>
            </a:r>
            <a:br/>
            <a:r>
              <a:t>• EBITDA margin ramping from 39.7% to 42.0%</a:t>
            </a:r>
            <a:br/>
            <a:r>
              <a:t>• WACC: 8.5% | Terminal Multiple: 12.0x</a:t>
            </a:r>
            <a:br/>
            <a:r>
              <a:t>• Net Debt adjustment: +$9.2B cash – $50M debt</a:t>
            </a:r>
          </a:p>
        </p:txBody>
      </p:sp>
      <p:sp>
        <p:nvSpPr>
          <p:cNvPr id="9" name="TextBox 8"/>
          <p:cNvSpPr txBox="1"/>
          <p:nvPr/>
        </p:nvSpPr>
        <p:spPr>
          <a:xfrm>
            <a:off x="228600" y="1737360"/>
            <a:ext cx="5669280" cy="182880"/>
          </a:xfrm>
          <a:prstGeom prst="rect">
            <a:avLst/>
          </a:prstGeom>
          <a:noFill/>
        </p:spPr>
        <p:txBody>
          <a:bodyPr wrap="square">
            <a:spAutoFit/>
          </a:bodyPr>
          <a:lstStyle/>
          <a:p>
            <a:pPr algn="l">
              <a:defRPr sz="950" b="1">
                <a:solidFill>
                  <a:srgbClr val="1F4E79"/>
                </a:solidFill>
              </a:defRPr>
            </a:pPr>
            <a:r>
              <a:t>Sensitivity 1: Enterprise Value ($M)</a:t>
            </a:r>
          </a:p>
        </p:txBody>
      </p:sp>
      <p:graphicFrame>
        <p:nvGraphicFramePr>
          <p:cNvPr id="10" name="Table 9"/>
          <p:cNvGraphicFramePr>
            <a:graphicFrameLocks noGrp="1"/>
          </p:cNvGraphicFramePr>
          <p:nvPr/>
        </p:nvGraphicFramePr>
        <p:xfrm>
          <a:off x="228600" y="1901952"/>
          <a:ext cx="5669280" cy="1371600"/>
        </p:xfrm>
        <a:graphic>
          <a:graphicData uri="http://schemas.openxmlformats.org/drawingml/2006/table">
            <a:tbl>
              <a:tblPr firstRow="1" bandRow="1">
                <a:tableStyleId>{5C22544A-7EE6-4342-B048-85BDC9FD1C3A}</a:tableStyleId>
              </a:tblPr>
              <a:tblGrid>
                <a:gridCol w="1417320"/>
                <a:gridCol w="850392"/>
                <a:gridCol w="850392"/>
                <a:gridCol w="850392"/>
                <a:gridCol w="850392"/>
                <a:gridCol w="850392"/>
              </a:tblGrid>
              <a:tr h="228600">
                <a:tc>
                  <a:txBody>
                    <a:bodyPr/>
                    <a:lstStyle/>
                    <a:p>
                      <a:pPr algn="ctr">
                        <a:defRPr sz="750" b="1">
                          <a:solidFill>
                            <a:srgbClr val="FFFFFF"/>
                          </a:solidFill>
                        </a:defRPr>
                      </a:pPr>
                      <a:r>
                        <a:t>WACC \ Terminal Multiple</a:t>
                      </a:r>
                    </a:p>
                  </a:txBody>
                  <a:tcPr>
                    <a:solidFill>
                      <a:srgbClr val="1F4E79"/>
                    </a:solidFill>
                  </a:tcPr>
                </a:tc>
                <a:tc>
                  <a:txBody>
                    <a:bodyPr/>
                    <a:lstStyle/>
                    <a:p>
                      <a:pPr algn="ctr">
                        <a:defRPr sz="750" b="1">
                          <a:solidFill>
                            <a:srgbClr val="FFFFFF"/>
                          </a:solidFill>
                        </a:defRPr>
                      </a:pPr>
                      <a:r>
                        <a:t>10x</a:t>
                      </a:r>
                    </a:p>
                  </a:txBody>
                  <a:tcPr>
                    <a:solidFill>
                      <a:srgbClr val="1F4E79"/>
                    </a:solidFill>
                  </a:tcPr>
                </a:tc>
                <a:tc>
                  <a:txBody>
                    <a:bodyPr/>
                    <a:lstStyle/>
                    <a:p>
                      <a:pPr algn="ctr">
                        <a:defRPr sz="750" b="1">
                          <a:solidFill>
                            <a:srgbClr val="FFFFFF"/>
                          </a:solidFill>
                        </a:defRPr>
                      </a:pPr>
                      <a:r>
                        <a:t>11x</a:t>
                      </a:r>
                    </a:p>
                  </a:txBody>
                  <a:tcPr>
                    <a:solidFill>
                      <a:srgbClr val="1F4E79"/>
                    </a:solidFill>
                  </a:tcPr>
                </a:tc>
                <a:tc>
                  <a:txBody>
                    <a:bodyPr/>
                    <a:lstStyle/>
                    <a:p>
                      <a:pPr algn="ctr">
                        <a:defRPr sz="750" b="1">
                          <a:solidFill>
                            <a:srgbClr val="FFFFFF"/>
                          </a:solidFill>
                        </a:defRPr>
                      </a:pPr>
                      <a:r>
                        <a:t>12x</a:t>
                      </a:r>
                    </a:p>
                  </a:txBody>
                  <a:tcPr>
                    <a:solidFill>
                      <a:srgbClr val="1F4E79"/>
                    </a:solidFill>
                  </a:tcPr>
                </a:tc>
                <a:tc>
                  <a:txBody>
                    <a:bodyPr/>
                    <a:lstStyle/>
                    <a:p>
                      <a:pPr algn="ctr">
                        <a:defRPr sz="750" b="1">
                          <a:solidFill>
                            <a:srgbClr val="FFFFFF"/>
                          </a:solidFill>
                        </a:defRPr>
                      </a:pPr>
                      <a:r>
                        <a:t>13x</a:t>
                      </a:r>
                    </a:p>
                  </a:txBody>
                  <a:tcPr>
                    <a:solidFill>
                      <a:srgbClr val="1F4E79"/>
                    </a:solidFill>
                  </a:tcPr>
                </a:tc>
                <a:tc>
                  <a:txBody>
                    <a:bodyPr/>
                    <a:lstStyle/>
                    <a:p>
                      <a:pPr algn="ctr">
                        <a:defRPr sz="750" b="1">
                          <a:solidFill>
                            <a:srgbClr val="FFFFFF"/>
                          </a:solidFill>
                        </a:defRPr>
                      </a:pPr>
                      <a:r>
                        <a:t>14x</a:t>
                      </a:r>
                    </a:p>
                  </a:txBody>
                  <a:tcPr>
                    <a:solidFill>
                      <a:srgbClr val="1F4E79"/>
                    </a:solidFill>
                  </a:tcPr>
                </a:tc>
              </a:tr>
              <a:tr h="228600">
                <a:tc>
                  <a:txBody>
                    <a:bodyPr/>
                    <a:lstStyle/>
                    <a:p>
                      <a:pPr algn="ctr">
                        <a:defRPr sz="750"/>
                      </a:pPr>
                      <a:r>
                        <a:t>7.5%</a:t>
                      </a:r>
                    </a:p>
                  </a:txBody>
                  <a:tcPr/>
                </a:tc>
                <a:tc>
                  <a:txBody>
                    <a:bodyPr/>
                    <a:lstStyle/>
                    <a:p>
                      <a:pPr algn="ctr">
                        <a:defRPr sz="750"/>
                      </a:pPr>
                      <a:r>
                        <a:t>62,906</a:t>
                      </a:r>
                    </a:p>
                  </a:txBody>
                  <a:tcPr/>
                </a:tc>
                <a:tc>
                  <a:txBody>
                    <a:bodyPr/>
                    <a:lstStyle/>
                    <a:p>
                      <a:pPr algn="ctr">
                        <a:defRPr sz="750"/>
                      </a:pPr>
                      <a:r>
                        <a:t>67,742</a:t>
                      </a:r>
                    </a:p>
                  </a:txBody>
                  <a:tcPr/>
                </a:tc>
                <a:tc>
                  <a:txBody>
                    <a:bodyPr/>
                    <a:lstStyle/>
                    <a:p>
                      <a:pPr algn="ctr">
                        <a:defRPr sz="750"/>
                      </a:pPr>
                      <a:r>
                        <a:t>72,579</a:t>
                      </a:r>
                    </a:p>
                  </a:txBody>
                  <a:tcPr/>
                </a:tc>
                <a:tc>
                  <a:txBody>
                    <a:bodyPr/>
                    <a:lstStyle/>
                    <a:p>
                      <a:pPr algn="ctr">
                        <a:defRPr sz="750"/>
                      </a:pPr>
                      <a:r>
                        <a:t>77,415</a:t>
                      </a:r>
                    </a:p>
                  </a:txBody>
                  <a:tcPr/>
                </a:tc>
                <a:tc>
                  <a:txBody>
                    <a:bodyPr/>
                    <a:lstStyle/>
                    <a:p>
                      <a:pPr algn="ctr">
                        <a:defRPr sz="750"/>
                      </a:pPr>
                      <a:r>
                        <a:t>82,251</a:t>
                      </a:r>
                    </a:p>
                  </a:txBody>
                  <a:tcPr/>
                </a:tc>
              </a:tr>
              <a:tr h="228600">
                <a:tc>
                  <a:txBody>
                    <a:bodyPr/>
                    <a:lstStyle/>
                    <a:p>
                      <a:pPr algn="ctr">
                        <a:defRPr sz="750"/>
                      </a:pPr>
                      <a:r>
                        <a:t>8.0%</a:t>
                      </a:r>
                    </a:p>
                  </a:txBody>
                  <a:tcPr/>
                </a:tc>
                <a:tc>
                  <a:txBody>
                    <a:bodyPr/>
                    <a:lstStyle/>
                    <a:p>
                      <a:pPr algn="ctr">
                        <a:defRPr sz="750"/>
                      </a:pPr>
                      <a:r>
                        <a:t>61,598</a:t>
                      </a:r>
                    </a:p>
                  </a:txBody>
                  <a:tcPr/>
                </a:tc>
                <a:tc>
                  <a:txBody>
                    <a:bodyPr/>
                    <a:lstStyle/>
                    <a:p>
                      <a:pPr algn="ctr">
                        <a:defRPr sz="750"/>
                      </a:pPr>
                      <a:r>
                        <a:t>66,323</a:t>
                      </a:r>
                    </a:p>
                  </a:txBody>
                  <a:tcPr/>
                </a:tc>
                <a:tc>
                  <a:txBody>
                    <a:bodyPr/>
                    <a:lstStyle/>
                    <a:p>
                      <a:pPr algn="ctr">
                        <a:defRPr sz="750"/>
                      </a:pPr>
                      <a:r>
                        <a:t>71,048</a:t>
                      </a:r>
                    </a:p>
                  </a:txBody>
                  <a:tcPr/>
                </a:tc>
                <a:tc>
                  <a:txBody>
                    <a:bodyPr/>
                    <a:lstStyle/>
                    <a:p>
                      <a:pPr algn="ctr">
                        <a:defRPr sz="750"/>
                      </a:pPr>
                      <a:r>
                        <a:t>75,774</a:t>
                      </a:r>
                    </a:p>
                  </a:txBody>
                  <a:tcPr/>
                </a:tc>
                <a:tc>
                  <a:txBody>
                    <a:bodyPr/>
                    <a:lstStyle/>
                    <a:p>
                      <a:pPr algn="ctr">
                        <a:defRPr sz="750"/>
                      </a:pPr>
                      <a:r>
                        <a:t>80,499</a:t>
                      </a:r>
                    </a:p>
                  </a:txBody>
                  <a:tcPr/>
                </a:tc>
              </a:tr>
              <a:tr h="228600">
                <a:tc>
                  <a:txBody>
                    <a:bodyPr/>
                    <a:lstStyle/>
                    <a:p>
                      <a:pPr algn="ctr">
                        <a:defRPr sz="750"/>
                      </a:pPr>
                      <a:r>
                        <a:t>8.5%</a:t>
                      </a:r>
                    </a:p>
                  </a:txBody>
                  <a:tcPr/>
                </a:tc>
                <a:tc>
                  <a:txBody>
                    <a:bodyPr/>
                    <a:lstStyle/>
                    <a:p>
                      <a:pPr algn="ctr">
                        <a:defRPr sz="750"/>
                      </a:pPr>
                      <a:r>
                        <a:t>60,324</a:t>
                      </a:r>
                    </a:p>
                  </a:txBody>
                  <a:tcPr/>
                </a:tc>
                <a:tc>
                  <a:txBody>
                    <a:bodyPr/>
                    <a:lstStyle/>
                    <a:p>
                      <a:pPr algn="ctr">
                        <a:defRPr sz="750"/>
                      </a:pPr>
                      <a:r>
                        <a:t>64,941</a:t>
                      </a:r>
                    </a:p>
                  </a:txBody>
                  <a:tcPr/>
                </a:tc>
                <a:tc>
                  <a:txBody>
                    <a:bodyPr/>
                    <a:lstStyle/>
                    <a:p>
                      <a:pPr algn="ctr">
                        <a:defRPr sz="750"/>
                      </a:pPr>
                      <a:r>
                        <a:t>69,559</a:t>
                      </a:r>
                    </a:p>
                  </a:txBody>
                  <a:tcPr/>
                </a:tc>
                <a:tc>
                  <a:txBody>
                    <a:bodyPr/>
                    <a:lstStyle/>
                    <a:p>
                      <a:pPr algn="ctr">
                        <a:defRPr sz="750"/>
                      </a:pPr>
                      <a:r>
                        <a:t>74,176</a:t>
                      </a:r>
                    </a:p>
                  </a:txBody>
                  <a:tcPr/>
                </a:tc>
                <a:tc>
                  <a:txBody>
                    <a:bodyPr/>
                    <a:lstStyle/>
                    <a:p>
                      <a:pPr algn="ctr">
                        <a:defRPr sz="750"/>
                      </a:pPr>
                      <a:r>
                        <a:t>78,793</a:t>
                      </a:r>
                    </a:p>
                  </a:txBody>
                  <a:tcPr/>
                </a:tc>
              </a:tr>
              <a:tr h="228600">
                <a:tc>
                  <a:txBody>
                    <a:bodyPr/>
                    <a:lstStyle/>
                    <a:p>
                      <a:pPr algn="ctr">
                        <a:defRPr sz="750"/>
                      </a:pPr>
                      <a:r>
                        <a:t>9.0%</a:t>
                      </a:r>
                    </a:p>
                  </a:txBody>
                  <a:tcPr/>
                </a:tc>
                <a:tc>
                  <a:txBody>
                    <a:bodyPr/>
                    <a:lstStyle/>
                    <a:p>
                      <a:pPr algn="ctr">
                        <a:defRPr sz="750"/>
                      </a:pPr>
                      <a:r>
                        <a:t>59,084</a:t>
                      </a:r>
                    </a:p>
                  </a:txBody>
                  <a:tcPr/>
                </a:tc>
                <a:tc>
                  <a:txBody>
                    <a:bodyPr/>
                    <a:lstStyle/>
                    <a:p>
                      <a:pPr algn="ctr">
                        <a:defRPr sz="750"/>
                      </a:pPr>
                      <a:r>
                        <a:t>63,596</a:t>
                      </a:r>
                    </a:p>
                  </a:txBody>
                  <a:tcPr/>
                </a:tc>
                <a:tc>
                  <a:txBody>
                    <a:bodyPr/>
                    <a:lstStyle/>
                    <a:p>
                      <a:pPr algn="ctr">
                        <a:defRPr sz="750"/>
                      </a:pPr>
                      <a:r>
                        <a:t>68,109</a:t>
                      </a:r>
                    </a:p>
                  </a:txBody>
                  <a:tcPr/>
                </a:tc>
                <a:tc>
                  <a:txBody>
                    <a:bodyPr/>
                    <a:lstStyle/>
                    <a:p>
                      <a:pPr algn="ctr">
                        <a:defRPr sz="750"/>
                      </a:pPr>
                      <a:r>
                        <a:t>72,621</a:t>
                      </a:r>
                    </a:p>
                  </a:txBody>
                  <a:tcPr/>
                </a:tc>
                <a:tc>
                  <a:txBody>
                    <a:bodyPr/>
                    <a:lstStyle/>
                    <a:p>
                      <a:pPr algn="ctr">
                        <a:defRPr sz="750"/>
                      </a:pPr>
                      <a:r>
                        <a:t>77,133</a:t>
                      </a:r>
                    </a:p>
                  </a:txBody>
                  <a:tcPr/>
                </a:tc>
              </a:tr>
              <a:tr h="228600">
                <a:tc>
                  <a:txBody>
                    <a:bodyPr/>
                    <a:lstStyle/>
                    <a:p>
                      <a:pPr algn="ctr">
                        <a:defRPr sz="750"/>
                      </a:pPr>
                      <a:r>
                        <a:t>9.5%</a:t>
                      </a:r>
                    </a:p>
                  </a:txBody>
                  <a:tcPr/>
                </a:tc>
                <a:tc>
                  <a:txBody>
                    <a:bodyPr/>
                    <a:lstStyle/>
                    <a:p>
                      <a:pPr algn="ctr">
                        <a:defRPr sz="750"/>
                      </a:pPr>
                      <a:r>
                        <a:t>57,876</a:t>
                      </a:r>
                    </a:p>
                  </a:txBody>
                  <a:tcPr/>
                </a:tc>
                <a:tc>
                  <a:txBody>
                    <a:bodyPr/>
                    <a:lstStyle/>
                    <a:p>
                      <a:pPr algn="ctr">
                        <a:defRPr sz="750"/>
                      </a:pPr>
                      <a:r>
                        <a:t>62,286</a:t>
                      </a:r>
                    </a:p>
                  </a:txBody>
                  <a:tcPr/>
                </a:tc>
                <a:tc>
                  <a:txBody>
                    <a:bodyPr/>
                    <a:lstStyle/>
                    <a:p>
                      <a:pPr algn="ctr">
                        <a:defRPr sz="750"/>
                      </a:pPr>
                      <a:r>
                        <a:t>66,697</a:t>
                      </a:r>
                    </a:p>
                  </a:txBody>
                  <a:tcPr/>
                </a:tc>
                <a:tc>
                  <a:txBody>
                    <a:bodyPr/>
                    <a:lstStyle/>
                    <a:p>
                      <a:pPr algn="ctr">
                        <a:defRPr sz="750"/>
                      </a:pPr>
                      <a:r>
                        <a:t>71,107</a:t>
                      </a:r>
                    </a:p>
                  </a:txBody>
                  <a:tcPr/>
                </a:tc>
                <a:tc>
                  <a:txBody>
                    <a:bodyPr/>
                    <a:lstStyle/>
                    <a:p>
                      <a:pPr algn="ctr">
                        <a:defRPr sz="750"/>
                      </a:pPr>
                      <a:r>
                        <a:t>75,517</a:t>
                      </a:r>
                    </a:p>
                  </a:txBody>
                  <a:tcPr/>
                </a:tc>
              </a:tr>
            </a:tbl>
          </a:graphicData>
        </a:graphic>
      </p:graphicFrame>
      <p:sp>
        <p:nvSpPr>
          <p:cNvPr id="11" name="TextBox 10"/>
          <p:cNvSpPr txBox="1"/>
          <p:nvPr/>
        </p:nvSpPr>
        <p:spPr>
          <a:xfrm>
            <a:off x="6126480" y="1737360"/>
            <a:ext cx="5669280" cy="182880"/>
          </a:xfrm>
          <a:prstGeom prst="rect">
            <a:avLst/>
          </a:prstGeom>
          <a:noFill/>
        </p:spPr>
        <p:txBody>
          <a:bodyPr wrap="square">
            <a:spAutoFit/>
          </a:bodyPr>
          <a:lstStyle/>
          <a:p>
            <a:pPr algn="l">
              <a:defRPr sz="950" b="1">
                <a:solidFill>
                  <a:srgbClr val="1F4E79"/>
                </a:solidFill>
              </a:defRPr>
            </a:pPr>
            <a:r>
              <a:t>Sensitivity 2: Implied Share Price ($)</a:t>
            </a:r>
          </a:p>
        </p:txBody>
      </p:sp>
      <p:graphicFrame>
        <p:nvGraphicFramePr>
          <p:cNvPr id="12" name="Table 11"/>
          <p:cNvGraphicFramePr>
            <a:graphicFrameLocks noGrp="1"/>
          </p:cNvGraphicFramePr>
          <p:nvPr/>
        </p:nvGraphicFramePr>
        <p:xfrm>
          <a:off x="6126480" y="1901952"/>
          <a:ext cx="5650992" cy="1234440"/>
        </p:xfrm>
        <a:graphic>
          <a:graphicData uri="http://schemas.openxmlformats.org/drawingml/2006/table">
            <a:tbl>
              <a:tblPr firstRow="1" bandRow="1">
                <a:tableStyleId>{5C22544A-7EE6-4342-B048-85BDC9FD1C3A}</a:tableStyleId>
              </a:tblPr>
              <a:tblGrid>
                <a:gridCol w="850392"/>
                <a:gridCol w="960120"/>
                <a:gridCol w="960120"/>
                <a:gridCol w="960120"/>
                <a:gridCol w="960120"/>
                <a:gridCol w="960120"/>
              </a:tblGrid>
              <a:tr h="246888">
                <a:tc>
                  <a:txBody>
                    <a:bodyPr/>
                    <a:lstStyle/>
                    <a:p>
                      <a:pPr algn="ctr">
                        <a:defRPr sz="750" b="1">
                          <a:solidFill>
                            <a:srgbClr val="FFFFFF"/>
                          </a:solidFill>
                        </a:defRPr>
                      </a:pPr>
                      <a:r>
                        <a:t>7.5%</a:t>
                      </a:r>
                    </a:p>
                  </a:txBody>
                  <a:tcPr>
                    <a:solidFill>
                      <a:srgbClr val="1F4E79"/>
                    </a:solidFill>
                  </a:tcPr>
                </a:tc>
                <a:tc>
                  <a:txBody>
                    <a:bodyPr/>
                    <a:lstStyle/>
                    <a:p>
                      <a:pPr algn="ctr">
                        <a:defRPr sz="750" b="1">
                          <a:solidFill>
                            <a:srgbClr val="FFFFFF"/>
                          </a:solidFill>
                        </a:defRPr>
                      </a:pPr>
                      <a:r>
                        <a:t>$72.06</a:t>
                      </a:r>
                    </a:p>
                  </a:txBody>
                  <a:tcPr>
                    <a:solidFill>
                      <a:srgbClr val="1F4E79"/>
                    </a:solidFill>
                  </a:tcPr>
                </a:tc>
                <a:tc>
                  <a:txBody>
                    <a:bodyPr/>
                    <a:lstStyle/>
                    <a:p>
                      <a:pPr algn="ctr">
                        <a:defRPr sz="750" b="1">
                          <a:solidFill>
                            <a:srgbClr val="FFFFFF"/>
                          </a:solidFill>
                        </a:defRPr>
                      </a:pPr>
                      <a:r>
                        <a:t>$76.89</a:t>
                      </a:r>
                    </a:p>
                  </a:txBody>
                  <a:tcPr>
                    <a:solidFill>
                      <a:srgbClr val="1F4E79"/>
                    </a:solidFill>
                  </a:tcPr>
                </a:tc>
                <a:tc>
                  <a:txBody>
                    <a:bodyPr/>
                    <a:lstStyle/>
                    <a:p>
                      <a:pPr algn="ctr">
                        <a:defRPr sz="750" b="1">
                          <a:solidFill>
                            <a:srgbClr val="FFFFFF"/>
                          </a:solidFill>
                        </a:defRPr>
                      </a:pPr>
                      <a:r>
                        <a:t>$81.73</a:t>
                      </a:r>
                    </a:p>
                  </a:txBody>
                  <a:tcPr>
                    <a:solidFill>
                      <a:srgbClr val="1F4E79"/>
                    </a:solidFill>
                  </a:tcPr>
                </a:tc>
                <a:tc>
                  <a:txBody>
                    <a:bodyPr/>
                    <a:lstStyle/>
                    <a:p>
                      <a:pPr algn="ctr">
                        <a:defRPr sz="750" b="1">
                          <a:solidFill>
                            <a:srgbClr val="FFFFFF"/>
                          </a:solidFill>
                        </a:defRPr>
                      </a:pPr>
                      <a:r>
                        <a:t>$86.56</a:t>
                      </a:r>
                    </a:p>
                  </a:txBody>
                  <a:tcPr>
                    <a:solidFill>
                      <a:srgbClr val="1F4E79"/>
                    </a:solidFill>
                  </a:tcPr>
                </a:tc>
                <a:tc>
                  <a:txBody>
                    <a:bodyPr/>
                    <a:lstStyle/>
                    <a:p>
                      <a:pPr algn="ctr">
                        <a:defRPr sz="750" b="1">
                          <a:solidFill>
                            <a:srgbClr val="FFFFFF"/>
                          </a:solidFill>
                        </a:defRPr>
                      </a:pPr>
                      <a:r>
                        <a:t>$91.40</a:t>
                      </a:r>
                    </a:p>
                  </a:txBody>
                  <a:tcPr>
                    <a:solidFill>
                      <a:srgbClr val="1F4E79"/>
                    </a:solidFill>
                  </a:tcPr>
                </a:tc>
              </a:tr>
              <a:tr h="246888">
                <a:tc>
                  <a:txBody>
                    <a:bodyPr/>
                    <a:lstStyle/>
                    <a:p>
                      <a:pPr algn="ctr">
                        <a:defRPr sz="750"/>
                      </a:pPr>
                      <a:r>
                        <a:t>8.0%</a:t>
                      </a:r>
                    </a:p>
                  </a:txBody>
                  <a:tcPr/>
                </a:tc>
                <a:tc>
                  <a:txBody>
                    <a:bodyPr/>
                    <a:lstStyle/>
                    <a:p>
                      <a:pPr algn="ctr">
                        <a:defRPr sz="750"/>
                      </a:pPr>
                      <a:r>
                        <a:t>$70.75</a:t>
                      </a:r>
                    </a:p>
                  </a:txBody>
                  <a:tcPr/>
                </a:tc>
                <a:tc>
                  <a:txBody>
                    <a:bodyPr/>
                    <a:lstStyle/>
                    <a:p>
                      <a:pPr algn="ctr">
                        <a:defRPr sz="750"/>
                      </a:pPr>
                      <a:r>
                        <a:t>$75.47</a:t>
                      </a:r>
                    </a:p>
                  </a:txBody>
                  <a:tcPr/>
                </a:tc>
                <a:tc>
                  <a:txBody>
                    <a:bodyPr/>
                    <a:lstStyle/>
                    <a:p>
                      <a:pPr algn="ctr">
                        <a:defRPr sz="750"/>
                      </a:pPr>
                      <a:r>
                        <a:t>$80.20</a:t>
                      </a:r>
                    </a:p>
                  </a:txBody>
                  <a:tcPr/>
                </a:tc>
                <a:tc>
                  <a:txBody>
                    <a:bodyPr/>
                    <a:lstStyle/>
                    <a:p>
                      <a:pPr algn="ctr">
                        <a:defRPr sz="750"/>
                      </a:pPr>
                      <a:r>
                        <a:t>$84.92</a:t>
                      </a:r>
                    </a:p>
                  </a:txBody>
                  <a:tcPr/>
                </a:tc>
                <a:tc>
                  <a:txBody>
                    <a:bodyPr/>
                    <a:lstStyle/>
                    <a:p>
                      <a:pPr algn="ctr">
                        <a:defRPr sz="750"/>
                      </a:pPr>
                      <a:r>
                        <a:t>$89.65</a:t>
                      </a:r>
                    </a:p>
                  </a:txBody>
                  <a:tcPr/>
                </a:tc>
              </a:tr>
              <a:tr h="246888">
                <a:tc>
                  <a:txBody>
                    <a:bodyPr/>
                    <a:lstStyle/>
                    <a:p>
                      <a:pPr algn="ctr">
                        <a:defRPr sz="750"/>
                      </a:pPr>
                      <a:r>
                        <a:t>8.5%</a:t>
                      </a:r>
                    </a:p>
                  </a:txBody>
                  <a:tcPr/>
                </a:tc>
                <a:tc>
                  <a:txBody>
                    <a:bodyPr/>
                    <a:lstStyle/>
                    <a:p>
                      <a:pPr algn="ctr">
                        <a:defRPr sz="750"/>
                      </a:pPr>
                      <a:r>
                        <a:t>$69.47</a:t>
                      </a:r>
                    </a:p>
                  </a:txBody>
                  <a:tcPr/>
                </a:tc>
                <a:tc>
                  <a:txBody>
                    <a:bodyPr/>
                    <a:lstStyle/>
                    <a:p>
                      <a:pPr algn="ctr">
                        <a:defRPr sz="750"/>
                      </a:pPr>
                      <a:r>
                        <a:t>$74.09</a:t>
                      </a:r>
                    </a:p>
                  </a:txBody>
                  <a:tcPr/>
                </a:tc>
                <a:tc>
                  <a:txBody>
                    <a:bodyPr/>
                    <a:lstStyle/>
                    <a:p>
                      <a:pPr algn="ctr">
                        <a:defRPr sz="750"/>
                      </a:pPr>
                      <a:r>
                        <a:t>$78.71</a:t>
                      </a:r>
                    </a:p>
                  </a:txBody>
                  <a:tcPr/>
                </a:tc>
                <a:tc>
                  <a:txBody>
                    <a:bodyPr/>
                    <a:lstStyle/>
                    <a:p>
                      <a:pPr algn="ctr">
                        <a:defRPr sz="750"/>
                      </a:pPr>
                      <a:r>
                        <a:t>$83.33</a:t>
                      </a:r>
                    </a:p>
                  </a:txBody>
                  <a:tcPr/>
                </a:tc>
                <a:tc>
                  <a:txBody>
                    <a:bodyPr/>
                    <a:lstStyle/>
                    <a:p>
                      <a:pPr algn="ctr">
                        <a:defRPr sz="750"/>
                      </a:pPr>
                      <a:r>
                        <a:t>$87.94</a:t>
                      </a:r>
                    </a:p>
                  </a:txBody>
                  <a:tcPr/>
                </a:tc>
              </a:tr>
              <a:tr h="246888">
                <a:tc>
                  <a:txBody>
                    <a:bodyPr/>
                    <a:lstStyle/>
                    <a:p>
                      <a:pPr algn="ctr">
                        <a:defRPr sz="750"/>
                      </a:pPr>
                      <a:r>
                        <a:t>9.0%</a:t>
                      </a:r>
                    </a:p>
                  </a:txBody>
                  <a:tcPr/>
                </a:tc>
                <a:tc>
                  <a:txBody>
                    <a:bodyPr/>
                    <a:lstStyle/>
                    <a:p>
                      <a:pPr algn="ctr">
                        <a:defRPr sz="750"/>
                      </a:pPr>
                      <a:r>
                        <a:t>$68.23</a:t>
                      </a:r>
                    </a:p>
                  </a:txBody>
                  <a:tcPr/>
                </a:tc>
                <a:tc>
                  <a:txBody>
                    <a:bodyPr/>
                    <a:lstStyle/>
                    <a:p>
                      <a:pPr algn="ctr">
                        <a:defRPr sz="750"/>
                      </a:pPr>
                      <a:r>
                        <a:t>$72.75</a:t>
                      </a:r>
                    </a:p>
                  </a:txBody>
                  <a:tcPr/>
                </a:tc>
                <a:tc>
                  <a:txBody>
                    <a:bodyPr/>
                    <a:lstStyle/>
                    <a:p>
                      <a:pPr algn="ctr">
                        <a:defRPr sz="750"/>
                      </a:pPr>
                      <a:r>
                        <a:t>$77.26</a:t>
                      </a:r>
                    </a:p>
                  </a:txBody>
                  <a:tcPr/>
                </a:tc>
                <a:tc>
                  <a:txBody>
                    <a:bodyPr/>
                    <a:lstStyle/>
                    <a:p>
                      <a:pPr algn="ctr">
                        <a:defRPr sz="750"/>
                      </a:pPr>
                      <a:r>
                        <a:t>$81.77</a:t>
                      </a:r>
                    </a:p>
                  </a:txBody>
                  <a:tcPr/>
                </a:tc>
                <a:tc>
                  <a:txBody>
                    <a:bodyPr/>
                    <a:lstStyle/>
                    <a:p>
                      <a:pPr algn="ctr">
                        <a:defRPr sz="750"/>
                      </a:pPr>
                      <a:r>
                        <a:t>$86.28</a:t>
                      </a:r>
                    </a:p>
                  </a:txBody>
                  <a:tcPr/>
                </a:tc>
              </a:tr>
              <a:tr h="246888">
                <a:tc>
                  <a:txBody>
                    <a:bodyPr/>
                    <a:lstStyle/>
                    <a:p>
                      <a:pPr algn="ctr">
                        <a:defRPr sz="750"/>
                      </a:pPr>
                      <a:r>
                        <a:t>9.5%</a:t>
                      </a:r>
                    </a:p>
                  </a:txBody>
                  <a:tcPr/>
                </a:tc>
                <a:tc>
                  <a:txBody>
                    <a:bodyPr/>
                    <a:lstStyle/>
                    <a:p>
                      <a:pPr algn="ctr">
                        <a:defRPr sz="750"/>
                      </a:pPr>
                      <a:r>
                        <a:t>$67.03</a:t>
                      </a:r>
                    </a:p>
                  </a:txBody>
                  <a:tcPr/>
                </a:tc>
                <a:tc>
                  <a:txBody>
                    <a:bodyPr/>
                    <a:lstStyle/>
                    <a:p>
                      <a:pPr algn="ctr">
                        <a:defRPr sz="750"/>
                      </a:pPr>
                      <a:r>
                        <a:t>$71.44</a:t>
                      </a:r>
                    </a:p>
                  </a:txBody>
                  <a:tcPr/>
                </a:tc>
                <a:tc>
                  <a:txBody>
                    <a:bodyPr/>
                    <a:lstStyle/>
                    <a:p>
                      <a:pPr algn="ctr">
                        <a:defRPr sz="750"/>
                      </a:pPr>
                      <a:r>
                        <a:t>$75.85</a:t>
                      </a:r>
                    </a:p>
                  </a:txBody>
                  <a:tcPr/>
                </a:tc>
                <a:tc>
                  <a:txBody>
                    <a:bodyPr/>
                    <a:lstStyle/>
                    <a:p>
                      <a:pPr algn="ctr">
                        <a:defRPr sz="750"/>
                      </a:pPr>
                      <a:r>
                        <a:t>$80.26</a:t>
                      </a:r>
                    </a:p>
                  </a:txBody>
                  <a:tcPr/>
                </a:tc>
                <a:tc>
                  <a:txBody>
                    <a:bodyPr/>
                    <a:lstStyle/>
                    <a:p>
                      <a:pPr algn="ctr">
                        <a:defRPr sz="750"/>
                      </a:pPr>
                      <a:r>
                        <a:t>$84.67</a:t>
                      </a:r>
                    </a:p>
                  </a:txBody>
                  <a:tcPr/>
                </a:tc>
              </a:tr>
            </a:tbl>
          </a:graphicData>
        </a:graphic>
      </p:graphicFrame>
      <p:sp>
        <p:nvSpPr>
          <p:cNvPr id="13" name="Rounded Rectangle 12"/>
          <p:cNvSpPr/>
          <p:nvPr/>
        </p:nvSpPr>
        <p:spPr>
          <a:xfrm>
            <a:off x="228600" y="3291840"/>
            <a:ext cx="11731752" cy="640080"/>
          </a:xfrm>
          <a:prstGeom prst="roundRect">
            <a:avLst/>
          </a:prstGeom>
          <a:solidFill>
            <a:srgbClr val="4472C4"/>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364992"/>
            <a:ext cx="11430000" cy="502920"/>
          </a:xfrm>
          <a:prstGeom prst="rect">
            <a:avLst/>
          </a:prstGeom>
          <a:noFill/>
        </p:spPr>
        <p:txBody>
          <a:bodyPr wrap="square">
            <a:spAutoFit/>
          </a:bodyPr>
          <a:lstStyle/>
          <a:p>
            <a:pPr algn="ctr">
              <a:defRPr sz="800" b="0">
                <a:solidFill>
                  <a:srgbClr val="FFFFFF"/>
                </a:solidFill>
              </a:defRPr>
            </a:pPr>
            <a:r>
              <a:t>We believe Nintendo should be valued between $62B – $82B, with a midpoint valuation of ~$70B. At the implied share price of $78.71, the acquisition would be highly accretive to Webflix while delivering transformative strategic benefits in gaming and APAC.</a:t>
            </a:r>
          </a:p>
        </p:txBody>
      </p:sp>
      <p:sp>
        <p:nvSpPr>
          <p:cNvPr id="15" name="TextBox 14"/>
          <p:cNvSpPr txBox="1"/>
          <p:nvPr/>
        </p:nvSpPr>
        <p:spPr>
          <a:xfrm>
            <a:off x="228600" y="4069080"/>
            <a:ext cx="11731752" cy="182880"/>
          </a:xfrm>
          <a:prstGeom prst="rect">
            <a:avLst/>
          </a:prstGeom>
          <a:noFill/>
        </p:spPr>
        <p:txBody>
          <a:bodyPr wrap="square">
            <a:spAutoFit/>
          </a:bodyPr>
          <a:lstStyle/>
          <a:p>
            <a:pPr algn="ctr">
              <a:defRPr sz="650" b="0">
                <a:solidFill>
                  <a:srgbClr val="808080"/>
                </a:solidFill>
              </a:defRPr>
            </a:pPr>
            <a:r>
              <a:t>Source: BofA DCF Model | Assumptions per client-provided guidance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